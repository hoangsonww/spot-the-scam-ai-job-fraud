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60" d="100"/>
          <a:sy n="160" d="100"/>
        </p:scale>
        <p:origin x="43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371600" y="4297680"/>
            <a:ext cx="548640" cy="548640"/>
          </a:xfrm>
          <a:prstGeom prst="ellipse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743200" y="4297680"/>
            <a:ext cx="548640" cy="548640"/>
          </a:xfrm>
          <a:prstGeom prst="ellipse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114800" y="4297680"/>
            <a:ext cx="548640" cy="548640"/>
          </a:xfrm>
          <a:prstGeom prst="ellipse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4F6F6"/>
                </a:solidFill>
              </a:defRPr>
            </a:pPr>
            <a:r>
              <a:t>Spot the Scam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9260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4F6F6"/>
                </a:solidFill>
              </a:defRPr>
            </a:pPr>
            <a:r>
              <a:t>Job Posting Fraud Detection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6F6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Spot the Scam is an uncertainty-aware fraud detection system designed to identify fraudulent job postings with calibrated probabilities and transparent decision-making.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The system combines classical machine learning models with transformer-based approaches (DistilBERT) to deliver high-precision fraud detection.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t>Built with reproducibility and explainability at its core, featuring gray-zone review policy for uncertain predictions and comprehensive model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3200400"/>
            <a:ext cx="1828800" cy="1371600"/>
          </a:xfrm>
          <a:prstGeom prst="round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E4447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4F6F6"/>
                </a:solidFill>
              </a:defRPr>
            </a:pPr>
            <a:r>
              <a:t>System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5730"/>
            <a:ext cx="9144000" cy="514350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6F6"/>
                </a:solidFill>
              </a:defRPr>
            </a:pPr>
            <a:r>
              <a:t>Training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72384" y="1691640"/>
            <a:ext cx="73152" cy="411479"/>
          </a:xfrm>
          <a:prstGeom prst="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Triangle 5"/>
          <p:cNvSpPr/>
          <p:nvPr/>
        </p:nvSpPr>
        <p:spPr>
          <a:xfrm rot="18858321">
            <a:off x="3040379" y="1965960"/>
            <a:ext cx="137160" cy="137160"/>
          </a:xfrm>
          <a:prstGeom prst="rtTriangle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72384" y="2423160"/>
            <a:ext cx="73152" cy="411480"/>
          </a:xfrm>
          <a:prstGeom prst="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Triangle 7"/>
          <p:cNvSpPr/>
          <p:nvPr/>
        </p:nvSpPr>
        <p:spPr>
          <a:xfrm rot="18860419">
            <a:off x="3040379" y="2697480"/>
            <a:ext cx="137160" cy="137160"/>
          </a:xfrm>
          <a:prstGeom prst="rtTriangle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72384" y="3154680"/>
            <a:ext cx="73152" cy="411479"/>
          </a:xfrm>
          <a:prstGeom prst="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Triangle 9"/>
          <p:cNvSpPr/>
          <p:nvPr/>
        </p:nvSpPr>
        <p:spPr>
          <a:xfrm rot="18940447">
            <a:off x="3040379" y="3429000"/>
            <a:ext cx="137160" cy="137160"/>
          </a:xfrm>
          <a:prstGeom prst="rtTriangle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72384" y="3886200"/>
            <a:ext cx="73152" cy="411480"/>
          </a:xfrm>
          <a:prstGeom prst="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Triangle 11"/>
          <p:cNvSpPr/>
          <p:nvPr/>
        </p:nvSpPr>
        <p:spPr>
          <a:xfrm rot="18931103">
            <a:off x="3040378" y="4183380"/>
            <a:ext cx="137160" cy="137160"/>
          </a:xfrm>
          <a:prstGeom prst="rtTriangle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28800" y="1371600"/>
            <a:ext cx="2560320" cy="640080"/>
          </a:xfrm>
          <a:prstGeom prst="roundRect">
            <a:avLst/>
          </a:prstGeom>
          <a:solidFill>
            <a:srgbClr val="277884"/>
          </a:solidFill>
          <a:ln w="25400">
            <a:solidFill>
              <a:srgbClr val="1C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65960" y="1444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F6F6"/>
                </a:solidFill>
              </a:defRPr>
            </a:pPr>
            <a:r>
              <a:t>📥 Data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71907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CDC"/>
                </a:solidFill>
              </a:defRPr>
            </a:pPr>
            <a:r>
              <a:t>Kaggle CSV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103120"/>
            <a:ext cx="2560320" cy="640080"/>
          </a:xfrm>
          <a:prstGeom prst="roundRect">
            <a:avLst/>
          </a:prstGeom>
          <a:solidFill>
            <a:srgbClr val="277884"/>
          </a:solidFill>
          <a:ln w="25400">
            <a:solidFill>
              <a:srgbClr val="1C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217627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F6F6"/>
                </a:solidFill>
              </a:defRPr>
            </a:pPr>
            <a:r>
              <a:t>🧹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450591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CDC"/>
                </a:solidFill>
              </a:defRPr>
            </a:pPr>
            <a:r>
              <a:t>Clean &amp; validate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2834640"/>
            <a:ext cx="2560320" cy="640080"/>
          </a:xfrm>
          <a:prstGeom prst="roundRect">
            <a:avLst/>
          </a:prstGeom>
          <a:solidFill>
            <a:srgbClr val="277884"/>
          </a:solidFill>
          <a:ln w="25400">
            <a:solidFill>
              <a:srgbClr val="1C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65960" y="29077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F6F6"/>
                </a:solidFill>
              </a:defRPr>
            </a:pPr>
            <a:r>
              <a:t>⚙️ Feature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1821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CDC"/>
                </a:solidFill>
              </a:defRPr>
            </a:pPr>
            <a:r>
              <a:t>TF-IDF + Tabular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566160"/>
            <a:ext cx="2560320" cy="640080"/>
          </a:xfrm>
          <a:prstGeom prst="roundRect">
            <a:avLst/>
          </a:prstGeom>
          <a:solidFill>
            <a:srgbClr val="277884"/>
          </a:solidFill>
          <a:ln w="25400">
            <a:solidFill>
              <a:srgbClr val="1C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65960" y="36393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F6F6"/>
                </a:solidFill>
              </a:defRPr>
            </a:pPr>
            <a:r>
              <a:t>🤖 Model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39136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CDC"/>
                </a:solidFill>
              </a:defRPr>
            </a:pPr>
            <a:r>
              <a:t>Classical + DistilBERT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297680"/>
            <a:ext cx="2560320" cy="640080"/>
          </a:xfrm>
          <a:prstGeom prst="roundRect">
            <a:avLst/>
          </a:prstGeom>
          <a:solidFill>
            <a:srgbClr val="277884"/>
          </a:solidFill>
          <a:ln w="25400">
            <a:solidFill>
              <a:srgbClr val="1C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65960" y="43708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F6F6"/>
                </a:solidFill>
              </a:defRPr>
            </a:pPr>
            <a:r>
              <a:t>📊 Calibration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6451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CDC"/>
                </a:solidFill>
              </a:defRPr>
            </a:pPr>
            <a:r>
              <a:t>Platt/Isotonic scaling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69114" y="3337560"/>
            <a:ext cx="3200400" cy="1097280"/>
          </a:xfrm>
          <a:prstGeom prst="roundRect">
            <a:avLst/>
          </a:prstGeom>
          <a:solidFill>
            <a:srgbClr val="5EA8A7"/>
          </a:solidFill>
          <a:ln w="38100">
            <a:solidFill>
              <a:srgbClr val="1C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51994" y="341071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F6F6"/>
                </a:solidFill>
              </a:defRPr>
            </a:pPr>
            <a:r>
              <a:rPr dirty="0"/>
              <a:t>💾 Artifacts &amp; 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1994" y="3728167"/>
            <a:ext cx="2834640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4F6F6"/>
                </a:solidFill>
              </a:defRPr>
            </a:pPr>
            <a:r>
              <a:rPr dirty="0"/>
              <a:t>• Calibrated models</a:t>
            </a:r>
          </a:p>
          <a:p>
            <a:pPr>
              <a:spcAft>
                <a:spcPts val="200"/>
              </a:spcAft>
              <a:defRPr sz="1100">
                <a:solidFill>
                  <a:srgbClr val="F4F6F6"/>
                </a:solidFill>
              </a:defRPr>
            </a:pPr>
            <a:r>
              <a:rPr dirty="0"/>
              <a:t>• Feature pipelines</a:t>
            </a:r>
          </a:p>
          <a:p>
            <a:pPr>
              <a:spcAft>
                <a:spcPts val="200"/>
              </a:spcAft>
              <a:defRPr sz="1100">
                <a:solidFill>
                  <a:srgbClr val="F4F6F6"/>
                </a:solidFill>
              </a:defRPr>
            </a:pPr>
            <a:r>
              <a:rPr dirty="0"/>
              <a:t>• Metrics &amp; reports</a:t>
            </a:r>
          </a:p>
        </p:txBody>
      </p:sp>
      <p:sp>
        <p:nvSpPr>
          <p:cNvPr id="31" name="Rectangle 30"/>
          <p:cNvSpPr/>
          <p:nvPr/>
        </p:nvSpPr>
        <p:spPr>
          <a:xfrm flipV="1">
            <a:off x="4389120" y="3876658"/>
            <a:ext cx="608077" cy="82694"/>
          </a:xfrm>
          <a:prstGeom prst="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Triangle 31"/>
          <p:cNvSpPr/>
          <p:nvPr/>
        </p:nvSpPr>
        <p:spPr>
          <a:xfrm rot="13480164">
            <a:off x="4903548" y="3855011"/>
            <a:ext cx="137160" cy="137160"/>
          </a:xfrm>
          <a:prstGeom prst="rtTriangle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1211"/>
            <a:ext cx="9144000" cy="514350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6F6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2286000" cy="3474720"/>
          </a:xfrm>
          <a:prstGeom prst="roundRect">
            <a:avLst/>
          </a:prstGeom>
          <a:solidFill>
            <a:srgbClr val="277884"/>
          </a:solidFill>
          <a:ln w="25400">
            <a:solidFill>
              <a:srgbClr val="1C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1317" y="1371600"/>
            <a:ext cx="20521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4F6F6"/>
                </a:solidFill>
              </a:defRPr>
            </a:pPr>
            <a:r>
              <a:rPr dirty="0"/>
              <a:t>🔧 Training</a:t>
            </a:r>
            <a:r>
              <a:rPr lang="en-US" dirty="0"/>
              <a:t> Pipeline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Data ingestion</a:t>
            </a:r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Feature engineering</a:t>
            </a:r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Model training</a:t>
            </a:r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Calibration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188720"/>
            <a:ext cx="2286000" cy="3474720"/>
          </a:xfrm>
          <a:prstGeom prst="roundRect">
            <a:avLst/>
          </a:prstGeom>
          <a:solidFill>
            <a:srgbClr val="FE4447"/>
          </a:solidFill>
          <a:ln w="25400">
            <a:solidFill>
              <a:srgbClr val="1C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549" y="1371600"/>
            <a:ext cx="17381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4F6F6"/>
                </a:solidFill>
              </a:defRPr>
            </a:pPr>
            <a:r>
              <a:rPr dirty="0"/>
              <a:t>⚡ Serving</a:t>
            </a:r>
            <a:r>
              <a:rPr lang="en-US" dirty="0"/>
              <a:t> Layer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840480" y="210312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FastAPI service</a:t>
            </a:r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Model loading</a:t>
            </a:r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Predictions</a:t>
            </a:r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Explanations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2286000" cy="3474720"/>
          </a:xfrm>
          <a:prstGeom prst="roundRect">
            <a:avLst/>
          </a:prstGeom>
          <a:solidFill>
            <a:srgbClr val="C0392B"/>
          </a:solidFill>
          <a:ln w="25400">
            <a:solidFill>
              <a:srgbClr val="1C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2940" y="1371600"/>
            <a:ext cx="16017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4F6F6"/>
                </a:solidFill>
              </a:defRPr>
            </a:pPr>
            <a:r>
              <a:rPr dirty="0"/>
              <a:t>💻 Frontend</a:t>
            </a:r>
            <a:r>
              <a:rPr lang="en-US" dirty="0"/>
              <a:t> UI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Next.js dashboard</a:t>
            </a:r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Review queue</a:t>
            </a:r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Analytics</a:t>
            </a:r>
          </a:p>
          <a:p>
            <a:pPr>
              <a:spcAft>
                <a:spcPts val="800"/>
              </a:spcAft>
              <a:defRPr sz="1200">
                <a:solidFill>
                  <a:srgbClr val="F4F6F6"/>
                </a:solidFill>
              </a:defRPr>
            </a:pPr>
            <a:r>
              <a:t>• Feedback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94857" y="2889504"/>
            <a:ext cx="457200" cy="73152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Triangle 14"/>
          <p:cNvSpPr/>
          <p:nvPr/>
        </p:nvSpPr>
        <p:spPr>
          <a:xfrm rot="13533108">
            <a:off x="3520440" y="2857500"/>
            <a:ext cx="137160" cy="137160"/>
          </a:xfrm>
          <a:prstGeom prst="rtTriangle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2907792"/>
            <a:ext cx="457200" cy="73152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Triangle 16"/>
          <p:cNvSpPr/>
          <p:nvPr/>
        </p:nvSpPr>
        <p:spPr>
          <a:xfrm rot="13541798">
            <a:off x="6246321" y="2873275"/>
            <a:ext cx="137160" cy="137160"/>
          </a:xfrm>
          <a:prstGeom prst="rtTriangle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3200400"/>
            <a:ext cx="1828800" cy="1371600"/>
          </a:xfrm>
          <a:prstGeom prst="round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E4447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4F6F6"/>
                </a:solidFill>
              </a:defRPr>
            </a:pPr>
            <a:r>
              <a:t>Performance &amp;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6F6"/>
                </a:solidFill>
              </a:defRPr>
            </a:pPr>
            <a:r>
              <a:t>Model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833"/>
                </a:solidFill>
              </a:defRPr>
            </a:pPr>
            <a:r>
              <a:t>F1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417320"/>
            <a:ext cx="4572000" cy="274320"/>
          </a:xfrm>
          <a:prstGeom prst="roundRect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0" y="1417320"/>
            <a:ext cx="3749039" cy="274320"/>
          </a:xfrm>
          <a:prstGeom prst="round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13716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833"/>
                </a:solidFill>
              </a:defRPr>
            </a:pPr>
            <a:r>
              <a:t>0.82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833"/>
                </a:solidFill>
              </a:defRPr>
            </a:pPr>
            <a:r>
              <a:t>PR-AUC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057400"/>
            <a:ext cx="4572000" cy="274320"/>
          </a:xfrm>
          <a:prstGeom prst="roundRect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60320" y="2057400"/>
            <a:ext cx="3794759" cy="274320"/>
          </a:xfrm>
          <a:prstGeom prst="round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2011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833"/>
                </a:solidFill>
              </a:defRPr>
            </a:pPr>
            <a:r>
              <a:t>0.83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833"/>
                </a:solidFill>
              </a:defRPr>
            </a:pPr>
            <a:r>
              <a:t>ROC-AUC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697479"/>
            <a:ext cx="4572000" cy="274320"/>
          </a:xfrm>
          <a:prstGeom prst="roundRect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560320" y="2697479"/>
            <a:ext cx="4434840" cy="27432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2651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833"/>
                </a:solidFill>
              </a:defRPr>
            </a:pPr>
            <a:r>
              <a:t>0.97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3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833"/>
                </a:solidFill>
              </a:defRPr>
            </a:pPr>
            <a:r>
              <a:t>Precision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337559"/>
            <a:ext cx="4572000" cy="274320"/>
          </a:xfrm>
          <a:prstGeom prst="roundRect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60320" y="3337559"/>
            <a:ext cx="4206240" cy="27432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3291839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833"/>
                </a:solidFill>
              </a:defRPr>
            </a:pPr>
            <a:r>
              <a:t>0.92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833"/>
                </a:solidFill>
              </a:defRPr>
            </a:pPr>
            <a:r>
              <a:t>Recall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977639"/>
            <a:ext cx="4572000" cy="274320"/>
          </a:xfrm>
          <a:prstGeom prst="roundRect">
            <a:avLst/>
          </a:prstGeom>
          <a:solidFill>
            <a:srgbClr val="AAB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560320" y="3977639"/>
            <a:ext cx="3383280" cy="274320"/>
          </a:xfrm>
          <a:prstGeom prst="round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0" y="3931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833"/>
                </a:solidFill>
              </a:defRPr>
            </a:pPr>
            <a:r>
              <a:t>0.74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6F6"/>
                </a:solidFill>
              </a:defRPr>
            </a:pPr>
            <a: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3439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✓ High Precision (0.92): Minimizes false positives for legitimate jobs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✓ Excellent Class Separation (ROC-AUC 0.97): Clear distinction between fraud and legitimate postings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✓ Well-Calibrated Probabilities: Low Brier score (0.014) and calibration error (0.009) ensure reliable uncertainty estimates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✓ Gray-Zone Policy: ~10% of predictions flagged for human review to handle uncertain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3200400"/>
            <a:ext cx="1828800" cy="1371600"/>
          </a:xfrm>
          <a:prstGeom prst="round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E4447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4F6F6"/>
                </a:solidFill>
              </a:defRPr>
            </a:pPr>
            <a:r>
              <a:t>Technology &amp;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6F6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3439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Backend &amp; ML: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• Python 3.12, </a:t>
            </a:r>
            <a:r>
              <a:rPr dirty="0" err="1"/>
              <a:t>FastAPI</a:t>
            </a:r>
            <a:r>
              <a:rPr dirty="0"/>
              <a:t>, scikit-learn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• </a:t>
            </a:r>
            <a:r>
              <a:rPr dirty="0" err="1"/>
              <a:t>HuggingFace</a:t>
            </a:r>
            <a:r>
              <a:rPr dirty="0"/>
              <a:t> Transformers, </a:t>
            </a:r>
            <a:r>
              <a:rPr dirty="0" err="1"/>
              <a:t>LightGBM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• </a:t>
            </a:r>
            <a:r>
              <a:rPr dirty="0" err="1"/>
              <a:t>MLflow</a:t>
            </a:r>
            <a:r>
              <a:rPr dirty="0"/>
              <a:t> for tracking, ONNX for deployment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Frontend &amp; Infrastructure: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• </a:t>
            </a:r>
            <a:r>
              <a:rPr dirty="0" err="1"/>
              <a:t>Next.js</a:t>
            </a:r>
            <a:r>
              <a:rPr dirty="0"/>
              <a:t> 14, </a:t>
            </a:r>
            <a:r>
              <a:rPr dirty="0" err="1"/>
              <a:t>shadcn</a:t>
            </a:r>
            <a:r>
              <a:rPr dirty="0"/>
              <a:t>/</a:t>
            </a:r>
            <a:r>
              <a:rPr dirty="0" err="1"/>
              <a:t>ui</a:t>
            </a:r>
            <a:r>
              <a:rPr dirty="0"/>
              <a:t>, Tailwind CSS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• Docker Compose, VS Code </a:t>
            </a:r>
            <a:r>
              <a:rPr dirty="0" err="1"/>
              <a:t>devcontainer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• Reproducible development environments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6F6"/>
                </a:solidFill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6576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19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833"/>
                </a:solidFill>
              </a:defRPr>
            </a:pPr>
            <a:r>
              <a:t>Explainable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02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C2833"/>
                </a:solidFill>
              </a:defRPr>
            </a:pPr>
            <a:r>
              <a:t>Natural language rationales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79" y="1280160"/>
            <a:ext cx="36576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59" y="1417319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19" y="14630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833"/>
                </a:solidFill>
              </a:defRPr>
            </a:pPr>
            <a:r>
              <a:t>Calibrated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19" y="19202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C2833"/>
                </a:solidFill>
              </a:defRPr>
            </a:pPr>
            <a:r>
              <a:t>Reliable probabilities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36576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089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833"/>
                </a:solidFill>
              </a:defRPr>
            </a:pPr>
            <a:r>
              <a:t>Human-in-Loop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C2833"/>
                </a:solidFill>
              </a:defRPr>
            </a:pPr>
            <a:r>
              <a:t>Expert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2926080"/>
            <a:ext cx="36576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59" y="3063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19" y="31089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833"/>
                </a:solidFill>
              </a:defRPr>
            </a:pPr>
            <a:r>
              <a:t>Production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19" y="35661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C2833"/>
                </a:solidFill>
              </a:defRPr>
            </a:pPr>
            <a:r>
              <a:t>Containerized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3200400"/>
            <a:ext cx="1828800" cy="1371600"/>
          </a:xfrm>
          <a:prstGeom prst="round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E4447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4F6F6"/>
                </a:solidFill>
              </a:defRPr>
            </a:pPr>
            <a:r>
              <a:t>Achievements &amp; Future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6F6"/>
                </a:solidFill>
              </a:defRPr>
            </a:pPr>
            <a:r>
              <a:t>Key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✅ End-to-End Pipeline: Complete workflow from data ingestion to deployment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✅ Transparent AI: Explainable predictions with calibrated uncertainty estimates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✅ Human Feedback Integration: Continuous improvement through expert review</a:t>
            </a:r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C2833"/>
                </a:solidFill>
              </a:defRPr>
            </a:pPr>
            <a:r>
              <a:rPr dirty="0"/>
              <a:t>✅ Production Deployment: Containerized serving with monitoring and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374</Words>
  <Application>Microsoft Macintosh PowerPoint</Application>
  <PresentationFormat>On-screen Show (16:9)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Nguyen</cp:lastModifiedBy>
  <cp:revision>3</cp:revision>
  <dcterms:created xsi:type="dcterms:W3CDTF">2013-01-27T09:14:16Z</dcterms:created>
  <dcterms:modified xsi:type="dcterms:W3CDTF">2025-11-06T18:42:46Z</dcterms:modified>
  <cp:category/>
</cp:coreProperties>
</file>